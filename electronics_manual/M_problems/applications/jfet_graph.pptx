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200" d="100"/>
          <a:sy n="200" d="100"/>
        </p:scale>
        <p:origin x="58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6D70C-E71B-4151-AB98-94A4B6C5B52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6CF13-ED54-4369-93B2-99B7E90A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7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Generically, note resistor.</a:t>
            </a:r>
            <a:r>
              <a:rPr lang="en-US" baseline="0" dirty="0"/>
              <a:t>  “BIG” resistor means reduces current even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2E570D-0D89-4F91-AFA8-D97BC2E6FA5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210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7F84-E0C6-408F-8276-CBCDA2D95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F1736-685D-4BC1-B8FC-D602E21E3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4104-5E00-478B-AF2A-E6B8974E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AA7A6-3302-43F8-968B-CF0CCFB9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03CE-7F97-4505-87A3-42C696F5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5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7BE5-DC37-41D6-B51F-CEF4D507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40FBA-0C4D-42DB-BE38-F21A14EF7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B5344-BF9A-4B14-A795-B5549DA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9549-F8F0-49E6-AC8C-BC5C4B73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F61EB-3920-4960-868A-582A822A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8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0CD5-54BF-4D9F-BA2E-705CD120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CDBC1-A51B-4F9C-A761-04A22B341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82BC8-B106-4D9E-A276-995463DB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AD0D2-049C-4051-8F79-E5B563B8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CE3CD-3B02-4916-93BE-508C57B0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0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2D3B-C22F-4966-961D-289C4A2D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251A-6497-4834-BCCF-9B17C917D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40FF7-8A2C-40B7-8C6A-7BE6D1A1F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77F0F-9061-4B33-97F7-ABC0E253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EA2CC-AF49-43D1-960B-3AFA39BB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15625-2A35-4839-9298-374F51E8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0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9037-235F-4002-848A-CD5085132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CEA56-0E48-4168-8C19-1F56A47DF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172F1-C74E-49F1-8D75-A292F57EF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61FB0-7781-4FFA-A873-8F5360E4B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34010-A6EF-4C3C-AEF1-D21093B14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B9286-C969-401A-8E86-02C0773E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BE1D0-0190-4317-9928-552EB4B0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1E483-FC04-415F-90E4-C5EA847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2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DF08-5740-4935-A27C-672BFC06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475ED-38AC-4239-A693-8B2DF795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58693-F301-451F-A1C1-809D7E8C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3FFFE-60D7-4C20-AA1E-9C950057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2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409AD-4BCE-48AB-AD32-A702F22E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82C20-A850-4BFF-945E-DE245AF7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9494D-7238-49CD-BD4C-07C043EA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2964-2E00-4163-B1E6-6D1CE143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FF3F-0607-4EC8-9DC1-0936358BE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51481-C95D-4503-9513-0378D5FF1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73D83-2DC8-47B2-9CE7-E525CFF2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FAA51-5A4A-48A5-A0D5-0395F73D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41DD3-B712-497E-BB35-A05FEC75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0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430D-8B1E-414B-8E7B-B6A38042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9E190-7FFF-4981-A949-D62B773FC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BA3BB-7ACF-400D-BFDE-CFD7D3856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2DD5C-AA38-445A-92E5-17414198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D8988-CFBA-48A9-89F1-ADE786F2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0073-60B5-45C7-A6D0-9920EC56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6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8526-50D7-4C25-81B8-EC24A3B4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34DF7-AF94-435A-8776-EBEF39292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1D036-186B-4366-B2F4-55EF6FA1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C0CC7-0734-430E-A09B-223E8CF9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0DE7-250A-436A-B1A5-3ACFFDCD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8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DBA4A-59FD-4999-A00C-2B25C5E10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2722A-1ABE-476C-999D-97FFD80C7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B98C-0F62-4F76-A7D2-A4F1328C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F61F5-B971-4697-A4AF-88937B17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12FC8-5950-4FB4-8706-C5CA0B1D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F89D7-8BC1-4ED0-B842-3261F042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12446-F081-4A65-BF13-8929EF4F0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7FDEC-4F7C-4F0D-AEBB-96F2B0382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A4DFE-78E9-4491-86CC-BB918E46BB4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F74B7-0BA0-463C-97DB-7F003E03E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3C637-1A47-428E-ACB0-EB11B94D1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8EE3E-2B68-4E99-AB5B-32CD3A893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9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407" y="-3397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JFET properties (2N5457 modified)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12C12FB-2458-4AE0-A27A-8A523792DB32}"/>
              </a:ext>
            </a:extLst>
          </p:cNvPr>
          <p:cNvSpPr/>
          <p:nvPr/>
        </p:nvSpPr>
        <p:spPr>
          <a:xfrm>
            <a:off x="179507" y="630196"/>
            <a:ext cx="5801945" cy="4633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ID curves">
            <a:extLst>
              <a:ext uri="{FF2B5EF4-FFF2-40B4-BE49-F238E27FC236}">
                <a16:creationId xmlns:a16="http://schemas.microsoft.com/office/drawing/2014/main" id="{4DE129D8-FDE1-4522-BBB4-8305563B0B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2348" y="1280795"/>
            <a:ext cx="5943600" cy="4572727"/>
            <a:chOff x="3881" y="466"/>
            <a:chExt cx="3772" cy="2902"/>
          </a:xfrm>
        </p:grpSpPr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FDF84FDF-FCAB-49E5-A40F-FE6A0BBE1F35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3881" y="466"/>
              <a:ext cx="3772" cy="2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55227E2C-C6E0-4B97-81CC-65B30DCEAD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62"/>
            <a:stretch>
              <a:fillRect/>
            </a:stretch>
          </p:blipFill>
          <p:spPr bwMode="auto">
            <a:xfrm>
              <a:off x="3881" y="466"/>
              <a:ext cx="3690" cy="26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active">
            <a:extLst>
              <a:ext uri="{FF2B5EF4-FFF2-40B4-BE49-F238E27FC236}">
                <a16:creationId xmlns:a16="http://schemas.microsoft.com/office/drawing/2014/main" id="{1022CB09-E1B2-4FDA-89E0-25E95A89AA1D}"/>
              </a:ext>
            </a:extLst>
          </p:cNvPr>
          <p:cNvGrpSpPr/>
          <p:nvPr/>
        </p:nvGrpSpPr>
        <p:grpSpPr>
          <a:xfrm>
            <a:off x="1821180" y="1409700"/>
            <a:ext cx="4805680" cy="3418840"/>
            <a:chOff x="6979920" y="868680"/>
            <a:chExt cx="4805680" cy="3418840"/>
          </a:xfrm>
        </p:grpSpPr>
        <p:sp>
          <p:nvSpPr>
            <p:cNvPr id="15" name="active region">
              <a:extLst>
                <a:ext uri="{FF2B5EF4-FFF2-40B4-BE49-F238E27FC236}">
                  <a16:creationId xmlns:a16="http://schemas.microsoft.com/office/drawing/2014/main" id="{D57C8FAC-4743-449B-A019-753E81B8582E}"/>
                </a:ext>
              </a:extLst>
            </p:cNvPr>
            <p:cNvSpPr/>
            <p:nvPr/>
          </p:nvSpPr>
          <p:spPr>
            <a:xfrm>
              <a:off x="6979920" y="868680"/>
              <a:ext cx="4805680" cy="3418840"/>
            </a:xfrm>
            <a:custGeom>
              <a:avLst/>
              <a:gdLst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  <a:gd name="connsiteX0" fmla="*/ 0 w 4805680"/>
                <a:gd name="connsiteY0" fmla="*/ 3418840 h 3418840"/>
                <a:gd name="connsiteX1" fmla="*/ 162560 w 4805680"/>
                <a:gd name="connsiteY1" fmla="*/ 3017520 h 3418840"/>
                <a:gd name="connsiteX2" fmla="*/ 594360 w 4805680"/>
                <a:gd name="connsiteY2" fmla="*/ 0 h 3418840"/>
                <a:gd name="connsiteX3" fmla="*/ 4805680 w 4805680"/>
                <a:gd name="connsiteY3" fmla="*/ 0 h 3418840"/>
                <a:gd name="connsiteX4" fmla="*/ 4805680 w 4805680"/>
                <a:gd name="connsiteY4" fmla="*/ 3418840 h 3418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5680" h="3418840">
                  <a:moveTo>
                    <a:pt x="0" y="3418840"/>
                  </a:moveTo>
                  <a:cubicBezTo>
                    <a:pt x="145627" y="3361267"/>
                    <a:pt x="113030" y="3217757"/>
                    <a:pt x="162560" y="3017520"/>
                  </a:cubicBezTo>
                  <a:cubicBezTo>
                    <a:pt x="261620" y="2447713"/>
                    <a:pt x="494877" y="872490"/>
                    <a:pt x="594360" y="0"/>
                  </a:cubicBezTo>
                  <a:lnTo>
                    <a:pt x="4805680" y="0"/>
                  </a:lnTo>
                  <a:lnTo>
                    <a:pt x="4805680" y="3418840"/>
                  </a:lnTo>
                </a:path>
              </a:pathLst>
            </a:custGeom>
            <a:solidFill>
              <a:srgbClr val="A9D18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Active label">
              <a:extLst>
                <a:ext uri="{FF2B5EF4-FFF2-40B4-BE49-F238E27FC236}">
                  <a16:creationId xmlns:a16="http://schemas.microsoft.com/office/drawing/2014/main" id="{EFD36547-A0E3-4A4B-A3A6-E6E2251A4CFE}"/>
                </a:ext>
              </a:extLst>
            </p:cNvPr>
            <p:cNvSpPr txBox="1"/>
            <p:nvPr/>
          </p:nvSpPr>
          <p:spPr>
            <a:xfrm>
              <a:off x="9275547" y="1386724"/>
              <a:ext cx="1537129" cy="837152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  <a:effectLst>
              <a:softEdge rad="31750"/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962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“Active” or “Saturation”  region</a:t>
              </a:r>
            </a:p>
          </p:txBody>
        </p:sp>
      </p:grpSp>
      <p:grpSp>
        <p:nvGrpSpPr>
          <p:cNvPr id="32" name="pinch off">
            <a:extLst>
              <a:ext uri="{FF2B5EF4-FFF2-40B4-BE49-F238E27FC236}">
                <a16:creationId xmlns:a16="http://schemas.microsoft.com/office/drawing/2014/main" id="{B5F5BBAB-2E39-4843-84F0-257421FE9ADE}"/>
              </a:ext>
            </a:extLst>
          </p:cNvPr>
          <p:cNvGrpSpPr/>
          <p:nvPr/>
        </p:nvGrpSpPr>
        <p:grpSpPr>
          <a:xfrm>
            <a:off x="1811654" y="1405890"/>
            <a:ext cx="2103563" cy="3429000"/>
            <a:chOff x="6970394" y="864870"/>
            <a:chExt cx="2103563" cy="3429000"/>
          </a:xfrm>
        </p:grpSpPr>
        <p:sp>
          <p:nvSpPr>
            <p:cNvPr id="20" name="pinch off line">
              <a:extLst>
                <a:ext uri="{FF2B5EF4-FFF2-40B4-BE49-F238E27FC236}">
                  <a16:creationId xmlns:a16="http://schemas.microsoft.com/office/drawing/2014/main" id="{C6AF0F32-B46C-474F-857D-AE497A701917}"/>
                </a:ext>
              </a:extLst>
            </p:cNvPr>
            <p:cNvSpPr/>
            <p:nvPr/>
          </p:nvSpPr>
          <p:spPr>
            <a:xfrm>
              <a:off x="6970394" y="864870"/>
              <a:ext cx="600075" cy="3429000"/>
            </a:xfrm>
            <a:custGeom>
              <a:avLst/>
              <a:gdLst>
                <a:gd name="connsiteX0" fmla="*/ 0 w 586740"/>
                <a:gd name="connsiteY0" fmla="*/ 3436620 h 3436620"/>
                <a:gd name="connsiteX1" fmla="*/ 266700 w 586740"/>
                <a:gd name="connsiteY1" fmla="*/ 2316480 h 3436620"/>
                <a:gd name="connsiteX2" fmla="*/ 586740 w 586740"/>
                <a:gd name="connsiteY2" fmla="*/ 0 h 3436620"/>
                <a:gd name="connsiteX0" fmla="*/ 0 w 624840"/>
                <a:gd name="connsiteY0" fmla="*/ 3417570 h 3417570"/>
                <a:gd name="connsiteX1" fmla="*/ 266700 w 624840"/>
                <a:gd name="connsiteY1" fmla="*/ 2297430 h 3417570"/>
                <a:gd name="connsiteX2" fmla="*/ 624840 w 624840"/>
                <a:gd name="connsiteY2" fmla="*/ 0 h 341757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66700 w 590550"/>
                <a:gd name="connsiteY1" fmla="*/ 231267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32410 w 590550"/>
                <a:gd name="connsiteY1" fmla="*/ 258699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32410 w 590550"/>
                <a:gd name="connsiteY1" fmla="*/ 258699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32410 w 590550"/>
                <a:gd name="connsiteY1" fmla="*/ 258699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32410 w 590550"/>
                <a:gd name="connsiteY1" fmla="*/ 2586990 h 3432810"/>
                <a:gd name="connsiteX2" fmla="*/ 590550 w 590550"/>
                <a:gd name="connsiteY2" fmla="*/ 0 h 3432810"/>
                <a:gd name="connsiteX0" fmla="*/ 0 w 590550"/>
                <a:gd name="connsiteY0" fmla="*/ 3432810 h 3432810"/>
                <a:gd name="connsiteX1" fmla="*/ 232410 w 590550"/>
                <a:gd name="connsiteY1" fmla="*/ 2586990 h 3432810"/>
                <a:gd name="connsiteX2" fmla="*/ 590550 w 590550"/>
                <a:gd name="connsiteY2" fmla="*/ 0 h 3432810"/>
                <a:gd name="connsiteX0" fmla="*/ 0 w 600075"/>
                <a:gd name="connsiteY0" fmla="*/ 3429000 h 3429000"/>
                <a:gd name="connsiteX1" fmla="*/ 241935 w 600075"/>
                <a:gd name="connsiteY1" fmla="*/ 2586990 h 3429000"/>
                <a:gd name="connsiteX2" fmla="*/ 600075 w 600075"/>
                <a:gd name="connsiteY2" fmla="*/ 0 h 3429000"/>
                <a:gd name="connsiteX0" fmla="*/ 0 w 600075"/>
                <a:gd name="connsiteY0" fmla="*/ 3429000 h 3429000"/>
                <a:gd name="connsiteX1" fmla="*/ 241935 w 600075"/>
                <a:gd name="connsiteY1" fmla="*/ 2586990 h 3429000"/>
                <a:gd name="connsiteX2" fmla="*/ 600075 w 600075"/>
                <a:gd name="connsiteY2" fmla="*/ 0 h 3429000"/>
                <a:gd name="connsiteX0" fmla="*/ 0 w 600075"/>
                <a:gd name="connsiteY0" fmla="*/ 3429000 h 3429000"/>
                <a:gd name="connsiteX1" fmla="*/ 238125 w 600075"/>
                <a:gd name="connsiteY1" fmla="*/ 2586990 h 3429000"/>
                <a:gd name="connsiteX2" fmla="*/ 600075 w 600075"/>
                <a:gd name="connsiteY2" fmla="*/ 0 h 342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075" h="3429000">
                  <a:moveTo>
                    <a:pt x="0" y="3429000"/>
                  </a:moveTo>
                  <a:cubicBezTo>
                    <a:pt x="163195" y="3347085"/>
                    <a:pt x="170180" y="2943860"/>
                    <a:pt x="238125" y="2586990"/>
                  </a:cubicBezTo>
                  <a:cubicBezTo>
                    <a:pt x="336550" y="2014855"/>
                    <a:pt x="492125" y="770890"/>
                    <a:pt x="60007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pinch off label">
              <a:extLst>
                <a:ext uri="{FF2B5EF4-FFF2-40B4-BE49-F238E27FC236}">
                  <a16:creationId xmlns:a16="http://schemas.microsoft.com/office/drawing/2014/main" id="{62E6CA6B-DC11-473A-ABFA-9B195AC6D25B}"/>
                </a:ext>
              </a:extLst>
            </p:cNvPr>
            <p:cNvSpPr txBox="1"/>
            <p:nvPr/>
          </p:nvSpPr>
          <p:spPr>
            <a:xfrm>
              <a:off x="7864178" y="2324332"/>
              <a:ext cx="1209779" cy="590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Pinch-off voltage</a:t>
              </a:r>
            </a:p>
          </p:txBody>
        </p:sp>
        <p:cxnSp>
          <p:nvCxnSpPr>
            <p:cNvPr id="29" name="pinch off arrow">
              <a:extLst>
                <a:ext uri="{FF2B5EF4-FFF2-40B4-BE49-F238E27FC236}">
                  <a16:creationId xmlns:a16="http://schemas.microsoft.com/office/drawing/2014/main" id="{7A665EA6-32F4-4CD0-ABB8-0D545DA5C7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7393" y="2574757"/>
              <a:ext cx="507170" cy="535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1945BAE-2FC7-4161-A903-11AB2893480D}"/>
              </a:ext>
            </a:extLst>
          </p:cNvPr>
          <p:cNvSpPr txBox="1"/>
          <p:nvPr/>
        </p:nvSpPr>
        <p:spPr>
          <a:xfrm>
            <a:off x="1381570" y="1318162"/>
            <a:ext cx="368171" cy="3702241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0.5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0.3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0</a:t>
            </a:r>
          </a:p>
        </p:txBody>
      </p:sp>
      <p:grpSp>
        <p:nvGrpSpPr>
          <p:cNvPr id="34" name="ohmic">
            <a:extLst>
              <a:ext uri="{FF2B5EF4-FFF2-40B4-BE49-F238E27FC236}">
                <a16:creationId xmlns:a16="http://schemas.microsoft.com/office/drawing/2014/main" id="{03CA05F4-DDE8-44BB-8931-562A1E226971}"/>
              </a:ext>
            </a:extLst>
          </p:cNvPr>
          <p:cNvGrpSpPr/>
          <p:nvPr/>
        </p:nvGrpSpPr>
        <p:grpSpPr>
          <a:xfrm>
            <a:off x="688694" y="1186569"/>
            <a:ext cx="1720429" cy="3637693"/>
            <a:chOff x="5847434" y="645549"/>
            <a:chExt cx="1720429" cy="3637693"/>
          </a:xfrm>
        </p:grpSpPr>
        <p:sp>
          <p:nvSpPr>
            <p:cNvPr id="14" name="ohmic region">
              <a:extLst>
                <a:ext uri="{FF2B5EF4-FFF2-40B4-BE49-F238E27FC236}">
                  <a16:creationId xmlns:a16="http://schemas.microsoft.com/office/drawing/2014/main" id="{65DEE953-0D31-46E5-A99C-739E4D9B5557}"/>
                </a:ext>
              </a:extLst>
            </p:cNvPr>
            <p:cNvSpPr/>
            <p:nvPr/>
          </p:nvSpPr>
          <p:spPr>
            <a:xfrm>
              <a:off x="6978316" y="866274"/>
              <a:ext cx="589547" cy="3416968"/>
            </a:xfrm>
            <a:custGeom>
              <a:avLst/>
              <a:gdLst>
                <a:gd name="connsiteX0" fmla="*/ 0 w 589547"/>
                <a:gd name="connsiteY0" fmla="*/ 3416968 h 3416968"/>
                <a:gd name="connsiteX1" fmla="*/ 180473 w 589547"/>
                <a:gd name="connsiteY1" fmla="*/ 306805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0" fmla="*/ 0 w 589547"/>
                <a:gd name="connsiteY0" fmla="*/ 3416968 h 3416968"/>
                <a:gd name="connsiteX1" fmla="*/ 180473 w 589547"/>
                <a:gd name="connsiteY1" fmla="*/ 306805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89547"/>
                <a:gd name="connsiteY0" fmla="*/ 3416968 h 3416968"/>
                <a:gd name="connsiteX1" fmla="*/ 75264 w 589547"/>
                <a:gd name="connsiteY1" fmla="*/ 3273926 h 3416968"/>
                <a:gd name="connsiteX2" fmla="*/ 180473 w 589547"/>
                <a:gd name="connsiteY2" fmla="*/ 3068052 h 3416968"/>
                <a:gd name="connsiteX3" fmla="*/ 589547 w 589547"/>
                <a:gd name="connsiteY3" fmla="*/ 0 h 3416968"/>
                <a:gd name="connsiteX4" fmla="*/ 0 w 589547"/>
                <a:gd name="connsiteY4" fmla="*/ 12031 h 3416968"/>
                <a:gd name="connsiteX5" fmla="*/ 0 w 589547"/>
                <a:gd name="connsiteY5" fmla="*/ 3416968 h 3416968"/>
                <a:gd name="connsiteX0" fmla="*/ 0 w 589547"/>
                <a:gd name="connsiteY0" fmla="*/ 3416968 h 3416968"/>
                <a:gd name="connsiteX1" fmla="*/ 180473 w 589547"/>
                <a:gd name="connsiteY1" fmla="*/ 306805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89547"/>
                <a:gd name="connsiteY0" fmla="*/ 3416968 h 3680894"/>
                <a:gd name="connsiteX1" fmla="*/ 180473 w 589547"/>
                <a:gd name="connsiteY1" fmla="*/ 3068052 h 3680894"/>
                <a:gd name="connsiteX2" fmla="*/ 589547 w 589547"/>
                <a:gd name="connsiteY2" fmla="*/ 0 h 3680894"/>
                <a:gd name="connsiteX3" fmla="*/ 0 w 589547"/>
                <a:gd name="connsiteY3" fmla="*/ 12031 h 3680894"/>
                <a:gd name="connsiteX4" fmla="*/ 0 w 589547"/>
                <a:gd name="connsiteY4" fmla="*/ 3416968 h 3680894"/>
                <a:gd name="connsiteX0" fmla="*/ 0 w 589547"/>
                <a:gd name="connsiteY0" fmla="*/ 3416968 h 3436670"/>
                <a:gd name="connsiteX1" fmla="*/ 180473 w 589547"/>
                <a:gd name="connsiteY1" fmla="*/ 3068052 h 3436670"/>
                <a:gd name="connsiteX2" fmla="*/ 589547 w 589547"/>
                <a:gd name="connsiteY2" fmla="*/ 0 h 3436670"/>
                <a:gd name="connsiteX3" fmla="*/ 0 w 589547"/>
                <a:gd name="connsiteY3" fmla="*/ 12031 h 3436670"/>
                <a:gd name="connsiteX4" fmla="*/ 0 w 589547"/>
                <a:gd name="connsiteY4" fmla="*/ 3416968 h 3436670"/>
                <a:gd name="connsiteX0" fmla="*/ 0 w 589547"/>
                <a:gd name="connsiteY0" fmla="*/ 3416968 h 3416968"/>
                <a:gd name="connsiteX1" fmla="*/ 180473 w 589547"/>
                <a:gd name="connsiteY1" fmla="*/ 306805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89547"/>
                <a:gd name="connsiteY0" fmla="*/ 3416968 h 3416968"/>
                <a:gd name="connsiteX1" fmla="*/ 149993 w 589547"/>
                <a:gd name="connsiteY1" fmla="*/ 306551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89547"/>
                <a:gd name="connsiteY0" fmla="*/ 3416968 h 3416968"/>
                <a:gd name="connsiteX1" fmla="*/ 149993 w 589547"/>
                <a:gd name="connsiteY1" fmla="*/ 306551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89547"/>
                <a:gd name="connsiteY0" fmla="*/ 3416968 h 3416968"/>
                <a:gd name="connsiteX1" fmla="*/ 149993 w 589547"/>
                <a:gd name="connsiteY1" fmla="*/ 306551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  <a:gd name="connsiteX0" fmla="*/ 0 w 590767"/>
                <a:gd name="connsiteY0" fmla="*/ 3416968 h 3416968"/>
                <a:gd name="connsiteX1" fmla="*/ 149993 w 590767"/>
                <a:gd name="connsiteY1" fmla="*/ 3065512 h 3416968"/>
                <a:gd name="connsiteX2" fmla="*/ 589547 w 590767"/>
                <a:gd name="connsiteY2" fmla="*/ 0 h 3416968"/>
                <a:gd name="connsiteX3" fmla="*/ 0 w 590767"/>
                <a:gd name="connsiteY3" fmla="*/ 12031 h 3416968"/>
                <a:gd name="connsiteX4" fmla="*/ 0 w 590767"/>
                <a:gd name="connsiteY4" fmla="*/ 3416968 h 3416968"/>
                <a:gd name="connsiteX0" fmla="*/ 0 w 589547"/>
                <a:gd name="connsiteY0" fmla="*/ 3416968 h 3416968"/>
                <a:gd name="connsiteX1" fmla="*/ 149993 w 589547"/>
                <a:gd name="connsiteY1" fmla="*/ 3065512 h 3416968"/>
                <a:gd name="connsiteX2" fmla="*/ 589547 w 589547"/>
                <a:gd name="connsiteY2" fmla="*/ 0 h 3416968"/>
                <a:gd name="connsiteX3" fmla="*/ 0 w 589547"/>
                <a:gd name="connsiteY3" fmla="*/ 12031 h 3416968"/>
                <a:gd name="connsiteX4" fmla="*/ 0 w 589547"/>
                <a:gd name="connsiteY4" fmla="*/ 3416968 h 341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47" h="3416968">
                  <a:moveTo>
                    <a:pt x="0" y="3416968"/>
                  </a:moveTo>
                  <a:cubicBezTo>
                    <a:pt x="106279" y="3397985"/>
                    <a:pt x="115235" y="3264167"/>
                    <a:pt x="149993" y="3065512"/>
                  </a:cubicBezTo>
                  <a:cubicBezTo>
                    <a:pt x="248251" y="2496017"/>
                    <a:pt x="535806" y="557173"/>
                    <a:pt x="589547" y="0"/>
                  </a:cubicBezTo>
                  <a:lnTo>
                    <a:pt x="0" y="12031"/>
                  </a:lnTo>
                  <a:lnTo>
                    <a:pt x="0" y="3416968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hmic label">
              <a:extLst>
                <a:ext uri="{FF2B5EF4-FFF2-40B4-BE49-F238E27FC236}">
                  <a16:creationId xmlns:a16="http://schemas.microsoft.com/office/drawing/2014/main" id="{2BA3BE16-4970-4984-8D05-137E1739691E}"/>
                </a:ext>
              </a:extLst>
            </p:cNvPr>
            <p:cNvSpPr txBox="1"/>
            <p:nvPr/>
          </p:nvSpPr>
          <p:spPr>
            <a:xfrm>
              <a:off x="5847434" y="645549"/>
              <a:ext cx="870550" cy="590931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  <a:ln>
              <a:noFill/>
            </a:ln>
            <a:effectLst>
              <a:softEdge rad="31750"/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Ohmic region</a:t>
              </a:r>
            </a:p>
          </p:txBody>
        </p:sp>
        <p:cxnSp>
          <p:nvCxnSpPr>
            <p:cNvPr id="24" name="ohmic arrow">
              <a:extLst>
                <a:ext uri="{FF2B5EF4-FFF2-40B4-BE49-F238E27FC236}">
                  <a16:creationId xmlns:a16="http://schemas.microsoft.com/office/drawing/2014/main" id="{59B3C229-F484-4DDB-8191-DDDF0D0DEF26}"/>
                </a:ext>
              </a:extLst>
            </p:cNvPr>
            <p:cNvCxnSpPr>
              <a:cxnSpLocks/>
            </p:cNvCxnSpPr>
            <p:nvPr/>
          </p:nvCxnSpPr>
          <p:spPr>
            <a:xfrm>
              <a:off x="6600513" y="941014"/>
              <a:ext cx="600387" cy="7430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04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1_Office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Trawick, Matt</dc:creator>
  <cp:lastModifiedBy>Trawick, Matt</cp:lastModifiedBy>
  <cp:revision>4</cp:revision>
  <dcterms:created xsi:type="dcterms:W3CDTF">2026-04-14T17:42:15Z</dcterms:created>
  <dcterms:modified xsi:type="dcterms:W3CDTF">2026-04-15T23:33:00Z</dcterms:modified>
</cp:coreProperties>
</file>